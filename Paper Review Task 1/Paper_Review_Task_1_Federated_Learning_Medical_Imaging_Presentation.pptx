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8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612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futuristic_digital_illustration_graphic_conc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729">
              <a:alpha val="84000"/>
            </a:srgbClr>
          </a:solidFill>
          <a:ln w="12700">
            <a:solidFill>
              <a:srgbClr val="031729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4983480" cy="6858000"/>
          </a:xfrm>
          <a:prstGeom prst="rect">
            <a:avLst/>
          </a:prstGeom>
          <a:solidFill>
            <a:srgbClr val="021222">
              <a:alpha val="90000"/>
            </a:srgbClr>
          </a:solidFill>
          <a:ln w="12700">
            <a:solidFill>
              <a:srgbClr val="021222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983480" y="658368"/>
            <a:ext cx="0" cy="5532120"/>
          </a:xfrm>
          <a:prstGeom prst="line">
            <a:avLst/>
          </a:prstGeom>
          <a:noFill/>
          <a:ln w="27940">
            <a:solidFill>
              <a:srgbClr val="18B6D1">
                <a:alpha val="9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48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B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REVIEW TASK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024128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Federated Learning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Medical Imaging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530352" y="2505456"/>
            <a:ext cx="384048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F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of Advancements and challenges of federated learning in medical imaging: a systematic literature review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30352" y="3511296"/>
            <a:ext cx="1828800" cy="0"/>
          </a:xfrm>
          <a:prstGeom prst="line">
            <a:avLst/>
          </a:prstGeom>
          <a:noFill/>
          <a:ln w="25400">
            <a:solidFill>
              <a:srgbClr val="18B6D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3840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 by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Abdul Khaled Arafat | ID: 2671507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30352" y="4526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Institute of Information and Communication Technology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F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Khulna University of Engineering and Technology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30352" y="57646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 to: Dr. M. A. Moyeen</a:t>
            </a:r>
            <a:endParaRPr lang="en-US" sz="108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9273F35-34D8-A991-F9E6-3E6B0CAA6D31}"/>
              </a:ext>
            </a:extLst>
          </p:cNvPr>
          <p:cNvSpPr/>
          <p:nvPr/>
        </p:nvSpPr>
        <p:spPr>
          <a:xfrm>
            <a:off x="502920" y="600590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 Professor,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CF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Institute of Information and Communication Technology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F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Khulna University of Engineering and Technology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Paper at a Glance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17C0D1D-D7C6-0768-3A77-CD72F7495DE3}"/>
              </a:ext>
            </a:extLst>
          </p:cNvPr>
          <p:cNvGrpSpPr/>
          <p:nvPr/>
        </p:nvGrpSpPr>
        <p:grpSpPr>
          <a:xfrm>
            <a:off x="2834640" y="1581912"/>
            <a:ext cx="6126480" cy="914400"/>
            <a:chOff x="2834640" y="1581912"/>
            <a:chExt cx="6126480" cy="914400"/>
          </a:xfrm>
        </p:grpSpPr>
        <p:sp>
          <p:nvSpPr>
            <p:cNvPr id="11" name="Shape 8"/>
            <p:cNvSpPr/>
            <p:nvPr/>
          </p:nvSpPr>
          <p:spPr>
            <a:xfrm>
              <a:off x="2834640" y="1581912"/>
              <a:ext cx="1920240" cy="9144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0160">
              <a:solidFill>
                <a:srgbClr val="D5E4F0"/>
              </a:solidFill>
              <a:prstDash val="solid"/>
            </a:ln>
            <a:effectLst>
              <a:outerShdw blurRad="12700" dist="12700" dir="2700000" algn="bl" rotWithShape="0">
                <a:srgbClr val="98A7B8">
                  <a:alpha val="12000"/>
                </a:srgbClr>
              </a:outerShdw>
            </a:effectLst>
          </p:spPr>
        </p:sp>
        <p:sp>
          <p:nvSpPr>
            <p:cNvPr id="12" name="Text 9"/>
            <p:cNvSpPr/>
            <p:nvPr/>
          </p:nvSpPr>
          <p:spPr>
            <a:xfrm>
              <a:off x="2944368" y="1719072"/>
              <a:ext cx="1691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0AA7A5"/>
                  </a:solidFill>
                  <a:latin typeface="Times New Roman" panose="02020603050405020304" pitchFamily="18" charset="0"/>
                  <a:ea typeface="Aptos Display" pitchFamily="34" charset="-122"/>
                  <a:cs typeface="Times New Roman" panose="02020603050405020304" pitchFamily="18" charset="0"/>
                </a:rPr>
                <a:t>2026</a:t>
              </a:r>
              <a:endParaRPr lang="en-US" sz="2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2971800" y="2112264"/>
              <a:ext cx="1645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30" dirty="0">
                  <a:solidFill>
                    <a:srgbClr val="536273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Systematic review</a:t>
              </a:r>
              <a:endParaRPr lang="en-US" sz="8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Shape 11"/>
            <p:cNvSpPr/>
            <p:nvPr/>
          </p:nvSpPr>
          <p:spPr>
            <a:xfrm>
              <a:off x="4937760" y="1581912"/>
              <a:ext cx="1920240" cy="9144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0160">
              <a:solidFill>
                <a:srgbClr val="D5E4F0"/>
              </a:solidFill>
              <a:prstDash val="solid"/>
            </a:ln>
            <a:effectLst>
              <a:outerShdw blurRad="12700" dist="12700" dir="2700000" algn="bl" rotWithShape="0">
                <a:srgbClr val="98A7B8">
                  <a:alpha val="12000"/>
                </a:srgbClr>
              </a:outerShdw>
            </a:effectLst>
          </p:spPr>
        </p:sp>
        <p:sp>
          <p:nvSpPr>
            <p:cNvPr id="15" name="Text 12"/>
            <p:cNvSpPr/>
            <p:nvPr/>
          </p:nvSpPr>
          <p:spPr>
            <a:xfrm>
              <a:off x="5047488" y="1719072"/>
              <a:ext cx="1691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0B75BB"/>
                  </a:solidFill>
                  <a:latin typeface="Times New Roman" panose="02020603050405020304" pitchFamily="18" charset="0"/>
                  <a:ea typeface="Aptos Display" pitchFamily="34" charset="-122"/>
                  <a:cs typeface="Times New Roman" panose="02020603050405020304" pitchFamily="18" charset="0"/>
                </a:rPr>
                <a:t>537</a:t>
              </a:r>
              <a:endParaRPr lang="en-US" sz="2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5074920" y="2112264"/>
              <a:ext cx="1645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30" dirty="0">
                  <a:solidFill>
                    <a:srgbClr val="536273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Initial records screened</a:t>
              </a:r>
              <a:endParaRPr lang="en-US" sz="8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Shape 14"/>
            <p:cNvSpPr/>
            <p:nvPr/>
          </p:nvSpPr>
          <p:spPr>
            <a:xfrm>
              <a:off x="7040880" y="1581912"/>
              <a:ext cx="1920240" cy="9144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0160">
              <a:solidFill>
                <a:srgbClr val="D5E4F0"/>
              </a:solidFill>
              <a:prstDash val="solid"/>
            </a:ln>
            <a:effectLst>
              <a:outerShdw blurRad="12700" dist="12700" dir="2700000" algn="bl" rotWithShape="0">
                <a:srgbClr val="98A7B8">
                  <a:alpha val="12000"/>
                </a:srgbClr>
              </a:outerShdw>
            </a:effectLst>
          </p:spPr>
        </p:sp>
        <p:sp>
          <p:nvSpPr>
            <p:cNvPr id="18" name="Text 15"/>
            <p:cNvSpPr/>
            <p:nvPr/>
          </p:nvSpPr>
          <p:spPr>
            <a:xfrm>
              <a:off x="7150608" y="1719072"/>
              <a:ext cx="1691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7765E3"/>
                  </a:solidFill>
                  <a:latin typeface="Times New Roman" panose="02020603050405020304" pitchFamily="18" charset="0"/>
                  <a:ea typeface="Aptos Display" pitchFamily="34" charset="-122"/>
                  <a:cs typeface="Times New Roman" panose="02020603050405020304" pitchFamily="18" charset="0"/>
                </a:rPr>
                <a:t>123</a:t>
              </a:r>
              <a:endParaRPr lang="en-US" sz="2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16"/>
            <p:cNvSpPr/>
            <p:nvPr/>
          </p:nvSpPr>
          <p:spPr>
            <a:xfrm>
              <a:off x="7178040" y="2112264"/>
              <a:ext cx="1645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30" dirty="0">
                  <a:solidFill>
                    <a:srgbClr val="536273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Included studies</a:t>
              </a:r>
              <a:endParaRPr lang="en-US" sz="8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Text 17"/>
          <p:cNvSpPr/>
          <p:nvPr/>
        </p:nvSpPr>
        <p:spPr>
          <a:xfrm>
            <a:off x="3172968" y="3209544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Chosen paper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172968" y="3511296"/>
            <a:ext cx="534924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Ghosh et al. review how federated learning supports collaborative cancer imaging AI while keeping patient images inside each hospital.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246120" y="4306824"/>
            <a:ext cx="54864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Review paper from Springer / Artificial Intelligence Review</a:t>
            </a:r>
          </a:p>
          <a:p>
            <a:pPr>
              <a:buSzPct val="100000"/>
            </a:pP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Focus: AI/ML in healthcare, privacy-aware medical imaging</a:t>
            </a:r>
          </a:p>
          <a:p>
            <a:pPr>
              <a:buSzPct val="100000"/>
            </a:pP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Covers skin, lung, colorectal, brain, and breast cancer imaging</a:t>
            </a:r>
          </a:p>
          <a:p>
            <a:pPr>
              <a:buSzPct val="100000"/>
            </a:pP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Directly fits the assignment themes: trends, gaps, security, privacy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03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Problem Statement: Data Is Fragmented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417320"/>
            <a:ext cx="2971800" cy="324612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AE7F1"/>
            </a:solidFill>
            <a:prstDash val="solid"/>
          </a:ln>
          <a:effectLst>
            <a:outerShdw blurRad="12700" dist="12700" dir="2700000" algn="bl" rotWithShape="0">
              <a:srgbClr val="98A7B8">
                <a:alpha val="12000"/>
              </a:srgb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16459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Hospitals hold image data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24128" y="2167128"/>
            <a:ext cx="242316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MRI, CT, mammography, dermoscopy, histopathology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Different scanners, protocols, patient groups, labels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Privacy rules and institutional ownership block easy pooling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2395728"/>
            <a:ext cx="22402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94192" y="1417320"/>
            <a:ext cx="2971800" cy="324612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AE7F1"/>
            </a:solidFill>
            <a:prstDash val="solid"/>
          </a:ln>
          <a:effectLst>
            <a:outerShdw blurRad="12700" dist="12700" dir="2700000" algn="bl" rotWithShape="0">
              <a:srgbClr val="98A7B8">
                <a:alpha val="12000"/>
              </a:srgb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13648" y="16459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FL promises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41080" y="2130552"/>
            <a:ext cx="242316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Train locally at each hospital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Share model updates, not raw images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Aggregate a global model for cross-site learning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Reduce data-sharing risk, but not every risk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34440" y="5285232"/>
            <a:ext cx="9738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Big message: FL is a privacy-aware collaboration method, not a magic privacy solution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0351B760-4E91-BDE6-BD0E-E0B730A850AA}"/>
              </a:ext>
            </a:extLst>
          </p:cNvPr>
          <p:cNvSpPr/>
          <p:nvPr/>
        </p:nvSpPr>
        <p:spPr>
          <a:xfrm>
            <a:off x="4434840" y="1417320"/>
            <a:ext cx="2971800" cy="324612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AE7F1"/>
            </a:solidFill>
            <a:prstDash val="solid"/>
          </a:ln>
          <a:effectLst>
            <a:outerShdw blurRad="12700" dist="12700" dir="2700000" algn="bl" rotWithShape="0">
              <a:srgbClr val="98A7B8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GB" b="1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ore barrier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FF559FE4-84CB-A0F4-95F1-14B0448DB89E}"/>
              </a:ext>
            </a:extLst>
          </p:cNvPr>
          <p:cNvSpPr/>
          <p:nvPr/>
        </p:nvSpPr>
        <p:spPr>
          <a:xfrm>
            <a:off x="9364980" y="61142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76556A-901B-4416-65EC-1728E952A76A}"/>
              </a:ext>
            </a:extLst>
          </p:cNvPr>
          <p:cNvSpPr txBox="1"/>
          <p:nvPr/>
        </p:nvSpPr>
        <p:spPr>
          <a:xfrm>
            <a:off x="4858870" y="2050360"/>
            <a:ext cx="22402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needs large, diverse datasets, but cancer images are usually locked inside separate institutions.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E7C88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1</a:t>
            </a:r>
            <a:endParaRPr lang="en-US" sz="7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04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How Federated Learning Works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6510528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383024" y="2247721"/>
            <a:ext cx="0" cy="411480"/>
          </a:xfrm>
          <a:prstGeom prst="line">
            <a:avLst/>
          </a:prstGeom>
          <a:noFill/>
          <a:ln w="25400">
            <a:solidFill>
              <a:srgbClr val="0AA7A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383024" y="3162121"/>
            <a:ext cx="0" cy="411480"/>
          </a:xfrm>
          <a:prstGeom prst="line">
            <a:avLst/>
          </a:prstGeom>
          <a:noFill/>
          <a:ln w="25400">
            <a:solidFill>
              <a:srgbClr val="0AA7A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383024" y="4076521"/>
            <a:ext cx="0" cy="411480"/>
          </a:xfrm>
          <a:prstGeom prst="line">
            <a:avLst/>
          </a:prstGeom>
          <a:noFill/>
          <a:ln w="25400">
            <a:solidFill>
              <a:srgbClr val="0AA7A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383024" y="4990921"/>
            <a:ext cx="0" cy="411480"/>
          </a:xfrm>
          <a:prstGeom prst="line">
            <a:avLst/>
          </a:prstGeom>
          <a:noFill/>
          <a:ln w="25400">
            <a:solidFill>
              <a:srgbClr val="0AA7A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126992" y="1744801"/>
            <a:ext cx="512064" cy="512064"/>
          </a:xfrm>
          <a:prstGeom prst="ellipse">
            <a:avLst/>
          </a:prstGeom>
          <a:solidFill>
            <a:srgbClr val="0AA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26992" y="1854529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785360" y="1726513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training</a:t>
            </a:r>
            <a:endParaRPr lang="en-US" sz="17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85360" y="2037409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hospital trains on its own images.</a:t>
            </a:r>
            <a:endParaRPr lang="en-US" sz="1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126992" y="2659201"/>
            <a:ext cx="512064" cy="512064"/>
          </a:xfrm>
          <a:prstGeom prst="ellipse">
            <a:avLst/>
          </a:prstGeom>
          <a:solidFill>
            <a:srgbClr val="0AA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26992" y="2768929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785360" y="2640913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sharing</a:t>
            </a:r>
            <a:endParaRPr lang="en-US" sz="17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785360" y="2951809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parameters/gradients are sent.</a:t>
            </a:r>
            <a:endParaRPr lang="en-US" sz="1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126992" y="3573601"/>
            <a:ext cx="512064" cy="512064"/>
          </a:xfrm>
          <a:prstGeom prst="ellipse">
            <a:avLst/>
          </a:prstGeom>
          <a:solidFill>
            <a:srgbClr val="7765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26992" y="3683329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785360" y="3555313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aggregation</a:t>
            </a:r>
            <a:endParaRPr lang="en-US" sz="17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785360" y="3866209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combines client updates.</a:t>
            </a:r>
            <a:endParaRPr lang="en-US" sz="1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126992" y="4488001"/>
            <a:ext cx="512064" cy="512064"/>
          </a:xfrm>
          <a:prstGeom prst="ellipse">
            <a:avLst/>
          </a:prstGeom>
          <a:solidFill>
            <a:srgbClr val="0AA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26992" y="4597729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785360" y="4469713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model</a:t>
            </a:r>
            <a:endParaRPr lang="en-US" sz="17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785360" y="4780609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improved model returns to hospitals.</a:t>
            </a:r>
            <a:endParaRPr lang="en-US" sz="1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126992" y="5402401"/>
            <a:ext cx="512064" cy="512064"/>
          </a:xfrm>
          <a:prstGeom prst="ellipse">
            <a:avLst/>
          </a:prstGeom>
          <a:solidFill>
            <a:srgbClr val="0AA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26992" y="5512129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785360" y="5384113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  <a:endParaRPr lang="en-US" sz="17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785360" y="5695009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Rounds continue until performance stabilizes.</a:t>
            </a:r>
            <a:endParaRPr lang="en-US" sz="1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Seven-Axis Taxonomy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pic>
        <p:nvPicPr>
          <p:cNvPr id="9" name="Image 0" descr="/mnt/dat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771" y="1188720"/>
            <a:ext cx="8929697" cy="4754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" y="5806440"/>
            <a:ext cx="10652760" cy="384048"/>
          </a:xfrm>
          <a:prstGeom prst="roundRect">
            <a:avLst>
              <a:gd name="adj" fmla="val 14286"/>
            </a:avLst>
          </a:prstGeom>
          <a:solidFill>
            <a:srgbClr val="EAF6FB"/>
          </a:solidFill>
          <a:ln w="8890">
            <a:solidFill>
              <a:srgbClr val="C7E5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5897880"/>
            <a:ext cx="10287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taxonomy moves beyond accuracy: it links application domain, data modality, model type, FL setup, privacy, evaluation, and clinical integration.</a:t>
            </a:r>
            <a:endParaRPr lang="en-US" sz="12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Applications Across Five Cancer Domains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032222" y="189191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51094" y="192848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0EC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51094" y="1928488"/>
            <a:ext cx="109728" cy="658368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61406" y="2047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A7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361406" y="23033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Dermoscopy</a:t>
            </a:r>
            <a:endParaRPr lang="en-US" sz="9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614134" y="2065648"/>
            <a:ext cx="3429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02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ISIC-2019, HAM10000; CNN/SVM, InceptionV3, fairness-aware personalization</a:t>
            </a:r>
            <a:endParaRPr lang="en-US" sz="11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151094" y="279716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0EC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51094" y="2797168"/>
            <a:ext cx="109728" cy="658368"/>
          </a:xfrm>
          <a:prstGeom prst="rect">
            <a:avLst/>
          </a:prstGeom>
          <a:solidFill>
            <a:srgbClr val="0B75BB"/>
          </a:solidFill>
          <a:ln w="12700">
            <a:solidFill>
              <a:srgbClr val="0B75B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1406" y="2916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75B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Lung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361406" y="31720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 / X-ray</a:t>
            </a:r>
            <a:endParaRPr lang="en-US" sz="9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614134" y="2934328"/>
            <a:ext cx="3429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02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CapsNet, DenseNet, attention CNNs, U-Net, GANs, lightweight CNNs</a:t>
            </a:r>
            <a:endParaRPr lang="en-US" sz="11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151094" y="366584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0EC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51094" y="3665848"/>
            <a:ext cx="109728" cy="658368"/>
          </a:xfrm>
          <a:prstGeom prst="rect">
            <a:avLst/>
          </a:prstGeom>
          <a:solidFill>
            <a:srgbClr val="7765E3"/>
          </a:solidFill>
          <a:ln w="12700">
            <a:solidFill>
              <a:srgbClr val="7765E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61406" y="3784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765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Colorectal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361406" y="40407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Histopathology</a:t>
            </a:r>
            <a:endParaRPr lang="en-US" sz="9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614134" y="3803008"/>
            <a:ext cx="3429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02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ResNeXt, VGG/BiT, style transfer, FedDropoutAvg, encrypted FL</a:t>
            </a:r>
            <a:endParaRPr lang="en-US" sz="11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151094" y="453452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0EC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151094" y="4534528"/>
            <a:ext cx="109728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61406" y="4653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361406" y="4909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endParaRPr lang="en-US" sz="9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614134" y="4671688"/>
            <a:ext cx="3429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02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U-Net, 3D U-Net, VGG16, DenseNet, personalized FL; BraTS benchmark</a:t>
            </a:r>
            <a:endParaRPr lang="en-US" sz="11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151094" y="540320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0ECF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151094" y="5403208"/>
            <a:ext cx="109728" cy="658368"/>
          </a:xfrm>
          <a:prstGeom prst="rect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61406" y="5522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B6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Breast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361406" y="57781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Mammo / US / pathology</a:t>
            </a:r>
            <a:endParaRPr lang="en-US" sz="9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614134" y="5540368"/>
            <a:ext cx="3429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02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YOLO, ResNet, U-Net, MobileNet, autoencoders, differential privacy</a:t>
            </a:r>
            <a:endParaRPr lang="en-US" sz="11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07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Repeated Methodological Trends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2057400"/>
            <a:ext cx="9098280" cy="0"/>
          </a:xfrm>
          <a:prstGeom prst="line">
            <a:avLst/>
          </a:prstGeom>
          <a:noFill/>
          <a:ln w="25400">
            <a:solidFill>
              <a:srgbClr val="B9DC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44168" y="1600200"/>
            <a:ext cx="960120" cy="960120"/>
          </a:xfrm>
          <a:prstGeom prst="ellipse">
            <a:avLst/>
          </a:prstGeom>
          <a:solidFill>
            <a:srgbClr val="0AA7A5"/>
          </a:solidFill>
          <a:ln w="16510">
            <a:solidFill>
              <a:srgbClr val="FFFFFF"/>
            </a:solidFill>
            <a:prstDash val="solid"/>
          </a:ln>
          <a:effectLst>
            <a:outerShdw blurRad="12700" dist="12700" dir="2700000" algn="bl" rotWithShape="0">
              <a:srgbClr val="0AA7A5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44168" y="19202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27889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families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baseline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538728" y="1600200"/>
            <a:ext cx="960120" cy="960120"/>
          </a:xfrm>
          <a:prstGeom prst="ellipse">
            <a:avLst/>
          </a:prstGeom>
          <a:solidFill>
            <a:srgbClr val="0B75BB"/>
          </a:solidFill>
          <a:ln w="16510">
            <a:solidFill>
              <a:srgbClr val="FFFFFF"/>
            </a:solidFill>
            <a:prstDash val="solid"/>
          </a:ln>
          <a:effectLst>
            <a:outerShdw blurRad="12700" dist="12700" dir="2700000" algn="bl" rotWithShape="0">
              <a:srgbClr val="0B75BB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38728" y="19202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71800" y="27889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U-Net /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U-Net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063240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backbone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733288" y="1600200"/>
            <a:ext cx="960120" cy="960120"/>
          </a:xfrm>
          <a:prstGeom prst="ellipse">
            <a:avLst/>
          </a:prstGeom>
          <a:solidFill>
            <a:srgbClr val="7765E3"/>
          </a:solidFill>
          <a:ln w="16510">
            <a:solidFill>
              <a:srgbClr val="FFFFFF"/>
            </a:solidFill>
            <a:prstDash val="solid"/>
          </a:ln>
          <a:effectLst>
            <a:outerShdw blurRad="12700" dist="12700" dir="2700000" algn="bl" rotWithShape="0">
              <a:srgbClr val="7765E3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33288" y="19202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66360" y="27889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 /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257800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feature extraction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927848" y="1600200"/>
            <a:ext cx="960120" cy="960120"/>
          </a:xfrm>
          <a:prstGeom prst="ellipse">
            <a:avLst/>
          </a:prstGeom>
          <a:solidFill>
            <a:srgbClr val="2BB673"/>
          </a:solidFill>
          <a:ln w="16510">
            <a:solidFill>
              <a:srgbClr val="FFFFFF"/>
            </a:solidFill>
            <a:prstDash val="solid"/>
          </a:ln>
          <a:effectLst>
            <a:outerShdw blurRad="12700" dist="12700" dir="2700000" algn="bl" rotWithShape="0">
              <a:srgbClr val="2BB673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27848" y="19202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60920" y="27889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MobileNet /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452360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Resource-limited clients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122408" y="1600200"/>
            <a:ext cx="960120" cy="960120"/>
          </a:xfrm>
          <a:prstGeom prst="ellipse">
            <a:avLst/>
          </a:prstGeom>
          <a:solidFill>
            <a:srgbClr val="F97316"/>
          </a:solidFill>
          <a:ln w="16510">
            <a:solidFill>
              <a:srgbClr val="FFFFFF"/>
            </a:solidFill>
            <a:prstDash val="solid"/>
          </a:ln>
          <a:effectLst>
            <a:outerShdw blurRad="12700" dist="12700" dir="2700000" algn="bl" rotWithShape="0">
              <a:srgbClr val="F97316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122408" y="19202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555480" y="27889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FedAvg →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FedProx/FedBN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646920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Non-IID &amp; stability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2960" y="4681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is modality-dependent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96112" y="5047488"/>
            <a:ext cx="50292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MRI: skull stripping + intensity normalization</a:t>
            </a:r>
          </a:p>
          <a:p>
            <a:pPr>
              <a:buSzPct val="100000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CT: denoising + lesion/nodule segmentation</a:t>
            </a:r>
          </a:p>
          <a:p>
            <a:pPr>
              <a:buSzPct val="100000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Histopathology: stain normalization + tile selection</a:t>
            </a:r>
          </a:p>
          <a:p>
            <a:pPr>
              <a:buSzPct val="100000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Dermoscopy: resizing, normalization, augmentation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46520" y="468172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alone is insufficient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19672" y="5047488"/>
            <a:ext cx="49377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Report Dice/IoU for segmentation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Use sensitivity, F1, AUC for imbalance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Also include latency, energy, privacy budget, external validation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Representative Study Comparison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6635"/>
              </p:ext>
            </p:extLst>
          </p:nvPr>
        </p:nvGraphicFramePr>
        <p:xfrm>
          <a:off x="475488" y="1261872"/>
          <a:ext cx="10698480" cy="4059936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Study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Cancer/data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FL model/task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Reported result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Privacy/security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Main limitation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1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Yaqoob et al. 2023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Skin; ISIC-2019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Async-FL-CNN classification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F1 94.8%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Raw data local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Resource heterogeneity not evaluated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Heidari et al. 2023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Lung; CT datasets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Federated CapsNet detection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Accuracy 99.69%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Blockchain-enabled FL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Annotation and deployment overhead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Truhn et al. 2024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Colorectal cohorts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Encrypted FL image analysis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Dice 78.5–86.8%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Homomorphic encryption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Limited network setting assumptions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Kumar et al. 2024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Brain; BraTS MRI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3D U-Net segmentation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Accuracy 88.60%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Blockchain + privacy FL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Latency and heterogeneous clients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Gupta et al. 2025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Breast; BreakHis/BUSI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YOLOv6 ensemble FL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Accuracy 97–98%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Raw data local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Only simulated clients; limited deployment metrics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960120" y="5779008"/>
            <a:ext cx="10287000" cy="429768"/>
          </a:xfrm>
          <a:prstGeom prst="roundRect">
            <a:avLst>
              <a:gd name="adj" fmla="val 12766"/>
            </a:avLst>
          </a:prstGeom>
          <a:solidFill>
            <a:srgbClr val="EAF6FB"/>
          </a:solidFill>
          <a:ln w="8890">
            <a:solidFill>
              <a:srgbClr val="C7E5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5879592"/>
            <a:ext cx="9921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Takeaway: many papers report high accuracy, but privacy layers, client heterogeneity, latency, and clinical validation are still unevenly reported.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Security &amp; Privacy Analysis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1332515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risks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77240" y="1664208"/>
            <a:ext cx="53035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Gradient / parameter leakage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Model-inversion and membership-inference attacks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Poisoned local updates from malicious clients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Weak client authentication and poor update provenance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30352" y="3338815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Best-practice protection stack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7240" y="3858768"/>
            <a:ext cx="530352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Secure aggregation + lightweight encryption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Differential privacy where acceptable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Client authentication and audit logs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Anomaly detection for suspicious updates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Report privacy–accuracy–latency trade-offs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261872" y="5815584"/>
            <a:ext cx="9738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1" name="Shape 25">
            <a:extLst>
              <a:ext uri="{FF2B5EF4-FFF2-40B4-BE49-F238E27FC236}">
                <a16:creationId xmlns:a16="http://schemas.microsoft.com/office/drawing/2014/main" id="{36BD27AA-DF92-CA8F-2554-5F1EC7F15FA0}"/>
              </a:ext>
            </a:extLst>
          </p:cNvPr>
          <p:cNvSpPr/>
          <p:nvPr/>
        </p:nvSpPr>
        <p:spPr>
          <a:xfrm>
            <a:off x="1051560" y="5870448"/>
            <a:ext cx="10104120" cy="347472"/>
          </a:xfrm>
          <a:prstGeom prst="roundRect">
            <a:avLst>
              <a:gd name="adj" fmla="val 15789"/>
            </a:avLst>
          </a:prstGeom>
          <a:solidFill>
            <a:srgbClr val="EAF6FB"/>
          </a:solidFill>
          <a:ln w="8890">
            <a:solidFill>
              <a:srgbClr val="C7E5F2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single privacy method solves all risks; secure medical FL needs layered protection and evaluation.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UNSOLVED RESEARCH GAPS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Challenges Identified by the Authors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99032"/>
            <a:ext cx="0" cy="868680"/>
          </a:xfrm>
          <a:prstGeom prst="line">
            <a:avLst/>
          </a:prstGeom>
          <a:noFill/>
          <a:ln w="50800">
            <a:solidFill>
              <a:srgbClr val="0AA7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0" b="1" dirty="0">
                <a:solidFill>
                  <a:srgbClr val="08213B"/>
                </a:solidFill>
              </a:rPr>
              <a:t>Non-IID data &amp; domain shift</a:t>
            </a:r>
            <a:endParaRPr lang="en-US" sz="1730" dirty="0"/>
          </a:p>
        </p:txBody>
      </p:sp>
      <p:sp>
        <p:nvSpPr>
          <p:cNvPr id="11" name="Text 9"/>
          <p:cNvSpPr/>
          <p:nvPr/>
        </p:nvSpPr>
        <p:spPr>
          <a:xfrm>
            <a:off x="886968" y="1709928"/>
            <a:ext cx="47091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36273"/>
                </a:solidFill>
              </a:rPr>
              <a:t>Different scanners, staining, demographics, disease prevalence, and labels.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6263640" y="1399032"/>
            <a:ext cx="0" cy="868680"/>
          </a:xfrm>
          <a:prstGeom prst="line">
            <a:avLst/>
          </a:prstGeom>
          <a:noFill/>
          <a:ln w="50800">
            <a:solidFill>
              <a:srgbClr val="7765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13258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0" b="1" dirty="0">
                <a:solidFill>
                  <a:srgbClr val="08213B"/>
                </a:solidFill>
              </a:rPr>
              <a:t>Privacy–security trade-offs</a:t>
            </a:r>
            <a:endParaRPr lang="en-US" sz="1730" dirty="0"/>
          </a:p>
        </p:txBody>
      </p:sp>
      <p:sp>
        <p:nvSpPr>
          <p:cNvPr id="14" name="Text 12"/>
          <p:cNvSpPr/>
          <p:nvPr/>
        </p:nvSpPr>
        <p:spPr>
          <a:xfrm>
            <a:off x="6464808" y="1709928"/>
            <a:ext cx="47091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36273"/>
                </a:solidFill>
              </a:rPr>
              <a:t>DP, encryption, and secure aggregation add noise, computation, bandwidth, and latency.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685800" y="2816352"/>
            <a:ext cx="0" cy="86868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27432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0" b="1" dirty="0">
                <a:solidFill>
                  <a:srgbClr val="08213B"/>
                </a:solidFill>
              </a:rPr>
              <a:t>Class imbalance &amp; scarce labels</a:t>
            </a:r>
            <a:endParaRPr lang="en-US" sz="1730" dirty="0"/>
          </a:p>
        </p:txBody>
      </p:sp>
      <p:sp>
        <p:nvSpPr>
          <p:cNvPr id="17" name="Text 15"/>
          <p:cNvSpPr/>
          <p:nvPr/>
        </p:nvSpPr>
        <p:spPr>
          <a:xfrm>
            <a:off x="886968" y="3127248"/>
            <a:ext cx="47091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36273"/>
                </a:solidFill>
              </a:rPr>
              <a:t>Rare malignant cases and expert annotation shortage reduce model reliability.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6263640" y="2816352"/>
            <a:ext cx="0" cy="868680"/>
          </a:xfrm>
          <a:prstGeom prst="line">
            <a:avLst/>
          </a:prstGeom>
          <a:noFill/>
          <a:ln w="50800">
            <a:solidFill>
              <a:srgbClr val="0B75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27432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0" b="1" dirty="0">
                <a:solidFill>
                  <a:srgbClr val="08213B"/>
                </a:solidFill>
              </a:rPr>
              <a:t>Aggregation instability</a:t>
            </a:r>
            <a:endParaRPr lang="en-US" sz="1730" dirty="0"/>
          </a:p>
        </p:txBody>
      </p:sp>
      <p:sp>
        <p:nvSpPr>
          <p:cNvPr id="20" name="Text 18"/>
          <p:cNvSpPr/>
          <p:nvPr/>
        </p:nvSpPr>
        <p:spPr>
          <a:xfrm>
            <a:off x="6464808" y="3127248"/>
            <a:ext cx="47091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36273"/>
                </a:solidFill>
              </a:rPr>
              <a:t>FedAvg struggles with client drift, unreliable clients, and hardware disparity.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685800" y="4233672"/>
            <a:ext cx="0" cy="868680"/>
          </a:xfrm>
          <a:prstGeom prst="line">
            <a:avLst/>
          </a:prstGeom>
          <a:noFill/>
          <a:ln w="50800">
            <a:solidFill>
              <a:srgbClr val="2BB6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1605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0" b="1" dirty="0">
                <a:solidFill>
                  <a:srgbClr val="08213B"/>
                </a:solidFill>
              </a:rPr>
              <a:t>Heavy models &amp; communication cost</a:t>
            </a:r>
            <a:endParaRPr lang="en-US" sz="1730" dirty="0"/>
          </a:p>
        </p:txBody>
      </p:sp>
      <p:sp>
        <p:nvSpPr>
          <p:cNvPr id="23" name="Text 21"/>
          <p:cNvSpPr/>
          <p:nvPr/>
        </p:nvSpPr>
        <p:spPr>
          <a:xfrm>
            <a:off x="886968" y="4544568"/>
            <a:ext cx="47091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36273"/>
                </a:solidFill>
              </a:rPr>
              <a:t>3D U-Net, GAN, YOLO, and transformer systems can exceed small-site resources.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6263640" y="4233672"/>
            <a:ext cx="0" cy="868680"/>
          </a:xfrm>
          <a:prstGeom prst="line">
            <a:avLst/>
          </a:prstGeom>
          <a:noFill/>
          <a:ln w="50800">
            <a:solidFill>
              <a:srgbClr val="E548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41605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0" b="1" dirty="0">
                <a:solidFill>
                  <a:srgbClr val="08213B"/>
                </a:solidFill>
              </a:rPr>
              <a:t>Clinical workflow gap</a:t>
            </a:r>
            <a:endParaRPr lang="en-US" sz="1730" dirty="0"/>
          </a:p>
        </p:txBody>
      </p:sp>
      <p:sp>
        <p:nvSpPr>
          <p:cNvPr id="26" name="Text 24"/>
          <p:cNvSpPr/>
          <p:nvPr/>
        </p:nvSpPr>
        <p:spPr>
          <a:xfrm>
            <a:off x="6464808" y="4544568"/>
            <a:ext cx="47091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36273"/>
                </a:solidFill>
              </a:rPr>
              <a:t>Few studies integrate with PACS/EHR, governance, regulation, or continuous monitoring.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1051560" y="5870448"/>
            <a:ext cx="10104120" cy="347472"/>
          </a:xfrm>
          <a:prstGeom prst="roundRect">
            <a:avLst>
              <a:gd name="adj" fmla="val 15789"/>
            </a:avLst>
          </a:prstGeom>
          <a:solidFill>
            <a:srgbClr val="EAF6FB"/>
          </a:solidFill>
          <a:ln w="8890">
            <a:solidFill>
              <a:srgbClr val="C7E5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234440" y="5952744"/>
            <a:ext cx="9738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8213B"/>
                </a:solidFill>
              </a:rPr>
              <a:t>The biggest gap is not only algorithm accuracy; it is trustworthy, scalable, clinically validated deployment.</a:t>
            </a:r>
            <a:endParaRPr lang="en-US" sz="123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Critical Analysis &amp; Future Directions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6510528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A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t.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685800" y="1298448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12700" dist="12700" dir="2700000" algn="bl" rotWithShape="0">
              <a:srgbClr val="98A7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600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critical view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46634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 review is strong because it connects technical FL design with clinical readiness.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However, many primary studies are simulation-heavy and do not prove hospital deployment.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Accuracy is often emphasized more than privacy budget, latency, fairness, calibration, or prospective validation.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 review could discuss regulation, consent, accountability, and clinician adoption more deeply.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8100" y="1543005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3721608"/>
            <a:ext cx="466344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1005840" y="5961888"/>
            <a:ext cx="10149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federated learning is a promising path for collaborative cancer imaging AI, but clinical value depends on robust privacy, generalization, explainability, and deployment evidence.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2A8A17CD-FBB1-5BFA-3EE6-C8DF391FF721}"/>
              </a:ext>
            </a:extLst>
          </p:cNvPr>
          <p:cNvSpPr/>
          <p:nvPr/>
        </p:nvSpPr>
        <p:spPr>
          <a:xfrm>
            <a:off x="6537960" y="1298448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12700" dist="12700" dir="2700000" algn="bl" rotWithShape="0">
              <a:srgbClr val="98A7B8">
                <a:alpha val="12000"/>
              </a:srgbClr>
            </a:outerShdw>
          </a:effectLst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855748-7C77-4A38-1638-91538E345B30}"/>
              </a:ext>
            </a:extLst>
          </p:cNvPr>
          <p:cNvSpPr txBox="1"/>
          <p:nvPr/>
        </p:nvSpPr>
        <p:spPr>
          <a:xfrm>
            <a:off x="6886687" y="1558179"/>
            <a:ext cx="3541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next steps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F31783-F109-2509-D43D-B9A405659021}"/>
              </a:ext>
            </a:extLst>
          </p:cNvPr>
          <p:cNvSpPr txBox="1"/>
          <p:nvPr/>
        </p:nvSpPr>
        <p:spPr>
          <a:xfrm>
            <a:off x="6886687" y="1975834"/>
            <a:ext cx="434519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Prospective multi-hospital validation on real clinical workflows.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Explainable federated AI using Grad-CAM, SHAP, and explanation-consistency checks.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Federated transfer/meta-learning for rare cancers and small datasets.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Communication-efficient FL with compression, distillation, and edge–cloud coordination.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Standard reporting: accuracy + privacy + latency + compute + fairness + external validity.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futuristic_digital_illustration_graphic_conc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729">
              <a:alpha val="88000"/>
            </a:srgbClr>
          </a:solidFill>
          <a:ln w="12700">
            <a:solidFill>
              <a:srgbClr val="0317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31520" y="217627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4663440" y="3035808"/>
            <a:ext cx="2880360" cy="0"/>
          </a:xfrm>
          <a:prstGeom prst="line">
            <a:avLst/>
          </a:prstGeom>
          <a:noFill/>
          <a:ln w="38100">
            <a:solidFill>
              <a:srgbClr val="18B6D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40156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F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7280" y="6272784"/>
            <a:ext cx="10012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2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1076</Words>
  <Application>Microsoft Office PowerPoint</Application>
  <PresentationFormat>Widescreen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KUET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Federated Learning in Medical Imaging</dc:title>
  <dc:subject>Paper Review Task 1</dc:subject>
  <dc:creator>OpenAI</dc:creator>
  <cp:lastModifiedBy>Abdul Khaled Arafat</cp:lastModifiedBy>
  <cp:revision>8</cp:revision>
  <dcterms:created xsi:type="dcterms:W3CDTF">2026-07-31T08:52:52Z</dcterms:created>
  <dcterms:modified xsi:type="dcterms:W3CDTF">2026-07-31T11:39:57Z</dcterms:modified>
</cp:coreProperties>
</file>